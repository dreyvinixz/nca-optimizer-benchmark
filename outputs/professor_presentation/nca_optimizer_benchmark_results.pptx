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b52da0da12499d" /><Relationship Type="http://schemas.openxmlformats.org/officeDocument/2006/relationships/extended-properties" Target="/docProps/app.xml" Id="R90878ce07c954b51" /><Relationship Type="http://schemas.openxmlformats.org/officeDocument/2006/relationships/officeDocument" Target="/ppt/presentation.xml" Id="R391549f1fa5a44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58cfb25b7a4b00"/>
  </p:sldMasterIdLst>
  <p:notesMasterIdLst>
    <p:notesMasterId xmlns:r="http://schemas.openxmlformats.org/officeDocument/2006/relationships" r:id="Rc17d50df5e7647ba"/>
  </p:notesMasterIdLst>
  <p:sldIdLst>
    <p:sldId xmlns:r="http://schemas.openxmlformats.org/officeDocument/2006/relationships" id="256" r:id="Rcb3e876fae9d4956"/>
    <p:sldId xmlns:r="http://schemas.openxmlformats.org/officeDocument/2006/relationships" id="257" r:id="R8044e3b8064a4fd8"/>
    <p:sldId xmlns:r="http://schemas.openxmlformats.org/officeDocument/2006/relationships" id="258" r:id="R70a3e73564f94f59"/>
    <p:sldId xmlns:r="http://schemas.openxmlformats.org/officeDocument/2006/relationships" id="259" r:id="Rc8acf4c72311412f"/>
    <p:sldId xmlns:r="http://schemas.openxmlformats.org/officeDocument/2006/relationships" id="260" r:id="R383be247713e485e"/>
    <p:sldId xmlns:r="http://schemas.openxmlformats.org/officeDocument/2006/relationships" id="261" r:id="Rb3e8a19ff84849a0"/>
    <p:sldId xmlns:r="http://schemas.openxmlformats.org/officeDocument/2006/relationships" id="262" r:id="R8aacd922cf6b43bd"/>
    <p:sldId xmlns:r="http://schemas.openxmlformats.org/officeDocument/2006/relationships" id="263" r:id="R9b6575818ec24ed7"/>
    <p:sldId xmlns:r="http://schemas.openxmlformats.org/officeDocument/2006/relationships" id="264" r:id="R972a2281fd1a418d"/>
    <p:sldId xmlns:r="http://schemas.openxmlformats.org/officeDocument/2006/relationships" id="265" r:id="R30aea0f0eb0943f2"/>
    <p:sldId xmlns:r="http://schemas.openxmlformats.org/officeDocument/2006/relationships" id="266" r:id="R1846e838e9534c87"/>
    <p:sldId xmlns:r="http://schemas.openxmlformats.org/officeDocument/2006/relationships" id="267" r:id="Rbde63698173a494c"/>
    <p:sldId xmlns:r="http://schemas.openxmlformats.org/officeDocument/2006/relationships" id="268" r:id="Rc788f64be860494e"/>
    <p:sldId xmlns:r="http://schemas.openxmlformats.org/officeDocument/2006/relationships" id="269" r:id="R482137eb10b342c0"/>
    <p:sldId xmlns:r="http://schemas.openxmlformats.org/officeDocument/2006/relationships" id="270" r:id="R61865ce849514638"/>
    <p:sldId xmlns:r="http://schemas.openxmlformats.org/officeDocument/2006/relationships" id="271" r:id="R66b3d9dad6e24ba4"/>
    <p:sldId xmlns:r="http://schemas.openxmlformats.org/officeDocument/2006/relationships" id="272" r:id="Rd50749125ce343b3"/>
    <p:sldId xmlns:r="http://schemas.openxmlformats.org/officeDocument/2006/relationships" id="273" r:id="Raa0d82e436d94216"/>
    <p:sldId xmlns:r="http://schemas.openxmlformats.org/officeDocument/2006/relationships" id="274" r:id="Rb14b890541684c01"/>
    <p:sldId xmlns:r="http://schemas.openxmlformats.org/officeDocument/2006/relationships" id="275" r:id="Rb5657ad9f9ad4240"/>
    <p:sldId xmlns:r="http://schemas.openxmlformats.org/officeDocument/2006/relationships" id="276" r:id="Re873434f8bdb4b40"/>
    <p:sldId xmlns:r="http://schemas.openxmlformats.org/officeDocument/2006/relationships" id="277" r:id="R6a0b4162eb6546fd"/>
    <p:sldId xmlns:r="http://schemas.openxmlformats.org/officeDocument/2006/relationships" id="278" r:id="R4a62b7fd5b88457e"/>
    <p:sldId xmlns:r="http://schemas.openxmlformats.org/officeDocument/2006/relationships" id="279" r:id="R631f864dc0ea44e2"/>
    <p:sldId xmlns:r="http://schemas.openxmlformats.org/officeDocument/2006/relationships" id="280" r:id="Re08775f45cff4583"/>
    <p:sldId xmlns:r="http://schemas.openxmlformats.org/officeDocument/2006/relationships" id="281" r:id="R5e39e22f401344b6"/>
    <p:sldId xmlns:r="http://schemas.openxmlformats.org/officeDocument/2006/relationships" id="282" r:id="R70a48add7ac946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8cfb25b7a4b00" /><Relationship Type="http://schemas.openxmlformats.org/officeDocument/2006/relationships/theme" Target="/ppt/theme/theme1.xml" Id="Rf1f80270928248c3" /><Relationship Type="http://schemas.openxmlformats.org/officeDocument/2006/relationships/notesMaster" Target="/ppt/notesMasters/notesMaster1.xml" Id="Rc17d50df5e7647ba" /><Relationship Type="http://schemas.openxmlformats.org/officeDocument/2006/relationships/presProps" Target="/ppt/presProps.xml" Id="R7e86589e69ec43c4" /><Relationship Type="http://schemas.openxmlformats.org/officeDocument/2006/relationships/viewProps" Target="/ppt/viewProps.xml" Id="Re8d84100bf1445a7" /><Relationship Type="http://schemas.openxmlformats.org/officeDocument/2006/relationships/tableStyles" Target="/ppt/tableStyles.xml" Id="R4f71e71962af4917" /><Relationship Type="http://schemas.openxmlformats.org/officeDocument/2006/relationships/slide" Target="/ppt/slides/slide1.xml" Id="Rcb3e876fae9d4956" /><Relationship Type="http://schemas.openxmlformats.org/officeDocument/2006/relationships/slide" Target="/ppt/slides/slide2.xml" Id="R8044e3b8064a4fd8" /><Relationship Type="http://schemas.openxmlformats.org/officeDocument/2006/relationships/slide" Target="/ppt/slides/slide3.xml" Id="R70a3e73564f94f59" /><Relationship Type="http://schemas.openxmlformats.org/officeDocument/2006/relationships/slide" Target="/ppt/slides/slide4.xml" Id="Rc8acf4c72311412f" /><Relationship Type="http://schemas.openxmlformats.org/officeDocument/2006/relationships/slide" Target="/ppt/slides/slide5.xml" Id="R383be247713e485e" /><Relationship Type="http://schemas.openxmlformats.org/officeDocument/2006/relationships/slide" Target="/ppt/slides/slide6.xml" Id="Rb3e8a19ff84849a0" /><Relationship Type="http://schemas.openxmlformats.org/officeDocument/2006/relationships/slide" Target="/ppt/slides/slide7.xml" Id="R8aacd922cf6b43bd" /><Relationship Type="http://schemas.openxmlformats.org/officeDocument/2006/relationships/slide" Target="/ppt/slides/slide8.xml" Id="R9b6575818ec24ed7" /><Relationship Type="http://schemas.openxmlformats.org/officeDocument/2006/relationships/slide" Target="/ppt/slides/slide9.xml" Id="R972a2281fd1a418d" /><Relationship Type="http://schemas.openxmlformats.org/officeDocument/2006/relationships/slide" Target="/ppt/slides/slide10.xml" Id="R30aea0f0eb0943f2" /><Relationship Type="http://schemas.openxmlformats.org/officeDocument/2006/relationships/slide" Target="/ppt/slides/slide11.xml" Id="R1846e838e9534c87" /><Relationship Type="http://schemas.openxmlformats.org/officeDocument/2006/relationships/slide" Target="/ppt/slides/slide12.xml" Id="Rbde63698173a494c" /><Relationship Type="http://schemas.openxmlformats.org/officeDocument/2006/relationships/slide" Target="/ppt/slides/slide13.xml" Id="Rc788f64be860494e" /><Relationship Type="http://schemas.openxmlformats.org/officeDocument/2006/relationships/slide" Target="/ppt/slides/slide14.xml" Id="R482137eb10b342c0" /><Relationship Type="http://schemas.openxmlformats.org/officeDocument/2006/relationships/slide" Target="/ppt/slides/slide15.xml" Id="R61865ce849514638" /><Relationship Type="http://schemas.openxmlformats.org/officeDocument/2006/relationships/slide" Target="/ppt/slides/slide16.xml" Id="R66b3d9dad6e24ba4" /><Relationship Type="http://schemas.openxmlformats.org/officeDocument/2006/relationships/slide" Target="/ppt/slides/slide17.xml" Id="Rd50749125ce343b3" /><Relationship Type="http://schemas.openxmlformats.org/officeDocument/2006/relationships/slide" Target="/ppt/slides/slide18.xml" Id="Raa0d82e436d94216" /><Relationship Type="http://schemas.openxmlformats.org/officeDocument/2006/relationships/slide" Target="/ppt/slides/slide19.xml" Id="Rb14b890541684c01" /><Relationship Type="http://schemas.openxmlformats.org/officeDocument/2006/relationships/slide" Target="/ppt/slides/slide20.xml" Id="Rb5657ad9f9ad4240" /><Relationship Type="http://schemas.openxmlformats.org/officeDocument/2006/relationships/slide" Target="/ppt/slides/slide21.xml" Id="Re873434f8bdb4b40" /><Relationship Type="http://schemas.openxmlformats.org/officeDocument/2006/relationships/slide" Target="/ppt/slides/slide22.xml" Id="R6a0b4162eb6546fd" /><Relationship Type="http://schemas.openxmlformats.org/officeDocument/2006/relationships/slide" Target="/ppt/slides/slide23.xml" Id="R4a62b7fd5b88457e" /><Relationship Type="http://schemas.openxmlformats.org/officeDocument/2006/relationships/slide" Target="/ppt/slides/slide24.xml" Id="R631f864dc0ea44e2" /><Relationship Type="http://schemas.openxmlformats.org/officeDocument/2006/relationships/slide" Target="/ppt/slides/slide25.xml" Id="Re08775f45cff4583" /><Relationship Type="http://schemas.openxmlformats.org/officeDocument/2006/relationships/slide" Target="/ppt/slides/slide26.xml" Id="R5e39e22f401344b6" /><Relationship Type="http://schemas.openxmlformats.org/officeDocument/2006/relationships/slide" Target="/ppt/slides/slide27.xml" Id="R70a48add7ac946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c736eb76dc748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8690ea0be34d44" /><Relationship Type="http://schemas.openxmlformats.org/officeDocument/2006/relationships/notesMaster" Target="/ppt/notesMasters/notesMaster1.xml" Id="R8d81b6af1dd54b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95ac5d07714782" /><Relationship Type="http://schemas.openxmlformats.org/officeDocument/2006/relationships/notesMaster" Target="/ppt/notesMasters/notesMaster1.xml" Id="Ra46e8910dba84a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fa1339094845f5" /><Relationship Type="http://schemas.openxmlformats.org/officeDocument/2006/relationships/notesMaster" Target="/ppt/notesMasters/notesMaster1.xml" Id="R0e2d349bf5f644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31283b56544828" /><Relationship Type="http://schemas.openxmlformats.org/officeDocument/2006/relationships/notesMaster" Target="/ppt/notesMasters/notesMaster1.xml" Id="Ra4db9238b0ce4a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9ad60175f14ff3" /><Relationship Type="http://schemas.openxmlformats.org/officeDocument/2006/relationships/notesMaster" Target="/ppt/notesMasters/notesMaster1.xml" Id="R439855ef2a0445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9ee8ecb4d64e92" /><Relationship Type="http://schemas.openxmlformats.org/officeDocument/2006/relationships/notesMaster" Target="/ppt/notesMasters/notesMaster1.xml" Id="R5fd3e9e3eaff49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b524f82243416b" /><Relationship Type="http://schemas.openxmlformats.org/officeDocument/2006/relationships/notesMaster" Target="/ppt/notesMasters/notesMaster1.xml" Id="Rddbd5fda1bd343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8ebaa7816c48a7" /><Relationship Type="http://schemas.openxmlformats.org/officeDocument/2006/relationships/notesMaster" Target="/ppt/notesMasters/notesMaster1.xml" Id="R34c768f61cb541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e2523251ef4fed" /><Relationship Type="http://schemas.openxmlformats.org/officeDocument/2006/relationships/notesMaster" Target="/ppt/notesMasters/notesMaster1.xml" Id="R8551bba7fe594e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9cc029b811452a" /><Relationship Type="http://schemas.openxmlformats.org/officeDocument/2006/relationships/notesMaster" Target="/ppt/notesMasters/notesMaster1.xml" Id="R4aad0510f8b440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3728b21a18492a" /><Relationship Type="http://schemas.openxmlformats.org/officeDocument/2006/relationships/notesMaster" Target="/ppt/notesMasters/notesMaster1.xml" Id="R674f6d80e38d44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c69a63bab7451b" /><Relationship Type="http://schemas.openxmlformats.org/officeDocument/2006/relationships/notesMaster" Target="/ppt/notesMasters/notesMaster1.xml" Id="R43b0d78d66ae49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4fd5b3c49743c4" /><Relationship Type="http://schemas.openxmlformats.org/officeDocument/2006/relationships/notesMaster" Target="/ppt/notesMasters/notesMaster1.xml" Id="R53206063155247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20f4f474394f7c" /><Relationship Type="http://schemas.openxmlformats.org/officeDocument/2006/relationships/notesMaster" Target="/ppt/notesMasters/notesMaster1.xml" Id="R75abcec0626b44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d31afd13b84b52" /><Relationship Type="http://schemas.openxmlformats.org/officeDocument/2006/relationships/notesMaster" Target="/ppt/notesMasters/notesMaster1.xml" Id="Reb2805bdd7e447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9273c2d59546b5" /><Relationship Type="http://schemas.openxmlformats.org/officeDocument/2006/relationships/notesMaster" Target="/ppt/notesMasters/notesMaster1.xml" Id="R5dc007ce1c4546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9b02f1a19d4a34" /><Relationship Type="http://schemas.openxmlformats.org/officeDocument/2006/relationships/notesMaster" Target="/ppt/notesMasters/notesMaster1.xml" Id="Rc913e2d7c4df4d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d1bb5e0fa6f42d0" /><Relationship Type="http://schemas.openxmlformats.org/officeDocument/2006/relationships/notesMaster" Target="/ppt/notesMasters/notesMaster1.xml" Id="R188b218cf6004c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839327c0d448b0" /><Relationship Type="http://schemas.openxmlformats.org/officeDocument/2006/relationships/notesMaster" Target="/ppt/notesMasters/notesMaster1.xml" Id="Rdb463714dc9945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343fd75f404758" /><Relationship Type="http://schemas.openxmlformats.org/officeDocument/2006/relationships/notesMaster" Target="/ppt/notesMasters/notesMaster1.xml" Id="R8f368525dc6e4f6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6fb0e19e5e04d7b" /><Relationship Type="http://schemas.openxmlformats.org/officeDocument/2006/relationships/notesMaster" Target="/ppt/notesMasters/notesMaster1.xml" Id="Rd106ca4760b243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42479b6d0f74ecc" /><Relationship Type="http://schemas.openxmlformats.org/officeDocument/2006/relationships/notesMaster" Target="/ppt/notesMasters/notesMaster1.xml" Id="R2fd82abf5cf0448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7b04f308b41429d" /><Relationship Type="http://schemas.openxmlformats.org/officeDocument/2006/relationships/notesMaster" Target="/ppt/notesMasters/notesMaster1.xml" Id="R5ec649a561ce48e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5c2127bea234ba6" /><Relationship Type="http://schemas.openxmlformats.org/officeDocument/2006/relationships/notesMaster" Target="/ppt/notesMasters/notesMaster1.xml" Id="R6339550fd5854b3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7cef860e5af4688" /><Relationship Type="http://schemas.openxmlformats.org/officeDocument/2006/relationships/notesMaster" Target="/ppt/notesMasters/notesMaster1.xml" Id="Ra4498278f4ed4d9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9176bab1eb24db0" /><Relationship Type="http://schemas.openxmlformats.org/officeDocument/2006/relationships/notesMaster" Target="/ppt/notesMasters/notesMaster1.xml" Id="R9b56cfd318d942d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386f8009e124e6a" /><Relationship Type="http://schemas.openxmlformats.org/officeDocument/2006/relationships/notesMaster" Target="/ppt/notesMasters/notesMaster1.xml" Id="R3cee67b5789a48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6477c7811432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02a14a8a5364909" /><Relationship Type="http://schemas.openxmlformats.org/officeDocument/2006/relationships/slideLayout" Target="/ppt/slideLayouts/slideLayout2.xml" Id="R2554b6d5c51e44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54b6d5c51e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0bddaf9dd141a0" /><Relationship Type="http://schemas.openxmlformats.org/officeDocument/2006/relationships/notesSlide" Target="/ppt/notesSlides/notesSlide1.xml" Id="R1ddb05bf1fa54f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625464d53c4e28" /><Relationship Type="http://schemas.openxmlformats.org/officeDocument/2006/relationships/notesSlide" Target="/ppt/notesSlides/notesSlide2.xml" Id="Rcb693653697149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d3a6e2db8b48de" /><Relationship Type="http://schemas.openxmlformats.org/officeDocument/2006/relationships/notesSlide" Target="/ppt/notesSlides/notesSlide3.xml" Id="Rb5c2a41d319144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1b54ef286644ab" /><Relationship Type="http://schemas.openxmlformats.org/officeDocument/2006/relationships/image" Target="/ppt/media/image.png" Id="R647fa00d5ee9419e" /><Relationship Type="http://schemas.openxmlformats.org/officeDocument/2006/relationships/notesSlide" Target="/ppt/notesSlides/notesSlide4.xml" Id="R44073c933c1045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a35999c9184893" /><Relationship Type="http://schemas.openxmlformats.org/officeDocument/2006/relationships/notesSlide" Target="/ppt/notesSlides/notesSlide5.xml" Id="Rff89ecc21d5048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0129b01f4f4e80" /><Relationship Type="http://schemas.openxmlformats.org/officeDocument/2006/relationships/image" Target="/ppt/media/image2.png" Id="R3304dd569e4045ab" /><Relationship Type="http://schemas.openxmlformats.org/officeDocument/2006/relationships/image" Target="/ppt/media/image3.png" Id="Re3e3ec30c71a4027" /><Relationship Type="http://schemas.openxmlformats.org/officeDocument/2006/relationships/notesSlide" Target="/ppt/notesSlides/notesSlide6.xml" Id="Rae345cf685f446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4001c5f9cc4f9a" /><Relationship Type="http://schemas.openxmlformats.org/officeDocument/2006/relationships/notesSlide" Target="/ppt/notesSlides/notesSlide7.xml" Id="R62c0cc3e102b45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14258c9ba742dc" /><Relationship Type="http://schemas.openxmlformats.org/officeDocument/2006/relationships/notesSlide" Target="/ppt/notesSlides/notesSlide8.xml" Id="R4fad07d025ec40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11e1bef9644557" /><Relationship Type="http://schemas.openxmlformats.org/officeDocument/2006/relationships/notesSlide" Target="/ppt/notesSlides/notesSlide9.xml" Id="R61efd45aaa7941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c4376d37b5444c" /><Relationship Type="http://schemas.openxmlformats.org/officeDocument/2006/relationships/notesSlide" Target="/ppt/notesSlides/notesSlide10.xml" Id="Raa8c275cebc340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352a35226b46bc" /><Relationship Type="http://schemas.openxmlformats.org/officeDocument/2006/relationships/image" Target="/ppt/media/image4.png" Id="Rc39e96fb7ab246fd" /><Relationship Type="http://schemas.openxmlformats.org/officeDocument/2006/relationships/notesSlide" Target="/ppt/notesSlides/notesSlide11.xml" Id="R893c03b66ff84b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d0e06852bc4fc3" /><Relationship Type="http://schemas.openxmlformats.org/officeDocument/2006/relationships/image" Target="/ppt/media/image5.png" Id="Rd7cf9cb18b9e47b8" /><Relationship Type="http://schemas.openxmlformats.org/officeDocument/2006/relationships/notesSlide" Target="/ppt/notesSlides/notesSlide12.xml" Id="R0cfcd743990b40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caf5b3704f427e" /><Relationship Type="http://schemas.openxmlformats.org/officeDocument/2006/relationships/image" Target="/ppt/media/image6.png" Id="Rce23becf4c1440d4" /><Relationship Type="http://schemas.openxmlformats.org/officeDocument/2006/relationships/notesSlide" Target="/ppt/notesSlides/notesSlide13.xml" Id="Radbe4ecba63f46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132082de5e4b2c" /><Relationship Type="http://schemas.openxmlformats.org/officeDocument/2006/relationships/image" Target="/ppt/media/image7.png" Id="R7aa21f60af6e48db" /><Relationship Type="http://schemas.openxmlformats.org/officeDocument/2006/relationships/notesSlide" Target="/ppt/notesSlides/notesSlide14.xml" Id="R50cb4897076947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5d3e4beaba4018" /><Relationship Type="http://schemas.openxmlformats.org/officeDocument/2006/relationships/image" Target="/ppt/media/image8.png" Id="R88724af06f974bdc" /><Relationship Type="http://schemas.openxmlformats.org/officeDocument/2006/relationships/notesSlide" Target="/ppt/notesSlides/notesSlide15.xml" Id="R37d860b8f5004d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92277b05d44ac8" /><Relationship Type="http://schemas.openxmlformats.org/officeDocument/2006/relationships/image" Target="/ppt/media/image9.png" Id="R6c8dd89c094341d8" /><Relationship Type="http://schemas.openxmlformats.org/officeDocument/2006/relationships/notesSlide" Target="/ppt/notesSlides/notesSlide16.xml" Id="R1dcb12fb4cf746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62fe84d4da463d" /><Relationship Type="http://schemas.openxmlformats.org/officeDocument/2006/relationships/image" Target="/ppt/media/image10.png" Id="R3f4408c204ff49f0" /><Relationship Type="http://schemas.openxmlformats.org/officeDocument/2006/relationships/notesSlide" Target="/ppt/notesSlides/notesSlide17.xml" Id="R3e5ef07fb145411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0bc20a138e428e" /><Relationship Type="http://schemas.openxmlformats.org/officeDocument/2006/relationships/image" Target="/ppt/media/image11.png" Id="Rca7f0bb3bfc34e54" /><Relationship Type="http://schemas.openxmlformats.org/officeDocument/2006/relationships/notesSlide" Target="/ppt/notesSlides/notesSlide18.xml" Id="Rdbef026386e24ea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3d003d477b462d" /><Relationship Type="http://schemas.openxmlformats.org/officeDocument/2006/relationships/image" Target="/ppt/media/image12.png" Id="R35f3139b0e6248d1" /><Relationship Type="http://schemas.openxmlformats.org/officeDocument/2006/relationships/notesSlide" Target="/ppt/notesSlides/notesSlide19.xml" Id="R6ed7184803b0457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76cd0a9c2545ac" /><Relationship Type="http://schemas.openxmlformats.org/officeDocument/2006/relationships/image" Target="/ppt/media/image13.png" Id="R63f3f4500d4140b0" /><Relationship Type="http://schemas.openxmlformats.org/officeDocument/2006/relationships/notesSlide" Target="/ppt/notesSlides/notesSlide20.xml" Id="R245e3f953cf248e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acd5823c2c4ea9" /><Relationship Type="http://schemas.openxmlformats.org/officeDocument/2006/relationships/image" Target="/ppt/media/image14.png" Id="R80e9f4e643c8429c" /><Relationship Type="http://schemas.openxmlformats.org/officeDocument/2006/relationships/notesSlide" Target="/ppt/notesSlides/notesSlide21.xml" Id="R66e78c08166b4dd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4654788f444053" /><Relationship Type="http://schemas.openxmlformats.org/officeDocument/2006/relationships/image" Target="/ppt/media/image15.png" Id="R12edde703f3247aa" /><Relationship Type="http://schemas.openxmlformats.org/officeDocument/2006/relationships/notesSlide" Target="/ppt/notesSlides/notesSlide22.xml" Id="R0ad6b165385c47b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03372c73b84bc2" /><Relationship Type="http://schemas.openxmlformats.org/officeDocument/2006/relationships/image" Target="/ppt/media/image16.png" Id="R66a37246eb4443c8" /><Relationship Type="http://schemas.openxmlformats.org/officeDocument/2006/relationships/notesSlide" Target="/ppt/notesSlides/notesSlide23.xml" Id="Rce9a6e89bcb044f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5ab60ca38c424b" /><Relationship Type="http://schemas.openxmlformats.org/officeDocument/2006/relationships/notesSlide" Target="/ppt/notesSlides/notesSlide24.xml" Id="R88a896f2aa154c3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036528f52a4d94" /><Relationship Type="http://schemas.openxmlformats.org/officeDocument/2006/relationships/notesSlide" Target="/ppt/notesSlides/notesSlide25.xml" Id="Rbb2714893c8a469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4883650fd943f0" /><Relationship Type="http://schemas.openxmlformats.org/officeDocument/2006/relationships/notesSlide" Target="/ppt/notesSlides/notesSlide26.xml" Id="R34f5f9e28f1f40c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d9d4ad0a494dc9" /><Relationship Type="http://schemas.openxmlformats.org/officeDocument/2006/relationships/notesSlide" Target="/ppt/notesSlides/notesSlide27.xml" Id="R83575cbd12ae4f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B0BB8F-EABC-49C6-B9C4-451CCAD8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DBB64F3-C2C2-4CDA-9E73-5288880B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8B6742-EA48-4DF5-965E-FEF9544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C3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CC3FF"/>
                </a:solidFill>
                <a:latin typeface="Aptos"/>
                <a:ea typeface="Aptos"/>
                <a:cs typeface="Aptos"/>
              </a:rPr>
              <a:t>RESULTADOS DO DESENVOLVIMENTO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30B6C-1A34-491A-8387-637BF513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5E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AD5E4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B2BAD-DF73-4402-8D11-04070A2C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AD5E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AD5E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946A5-B12A-4ACD-81D6-7A063FDC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C3FF"/>
                </a:solidFill>
                <a:latin typeface="Aptos"/>
                <a:ea typeface="Aptos"/>
                <a:cs typeface="Aptos"/>
              </a:rPr>
              <a:t>RESULTADOS DO DESENVOLVIMENTO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9749C-2904-4FE2-841C-5E23BBA2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28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Benchmark controlado de otimizadores para classificacao intraday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E0E64-289F-4C22-B866-9C168F2B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714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Da experiencia antiga com GA isolado para um protocolo temporal com 4 modelos, 5 otimizadores e 2 funcoes de fitness.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00966-9278-4E93-AC84-0541DA8C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E575E-2DA7-497D-A740-D64807E3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15.057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60DC6-0DFA-45C0-818D-6F860405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752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amostras WIN 5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99278-4C71-4486-84C0-68BD8065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053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2466F-1B37-49E9-8602-7D2F5D2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196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216F7-B4B8-42A0-A09E-EF14F752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57750"/>
            <a:ext cx="1752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combinacoes oficiais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9F442-08A2-4C59-8368-C95226EF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053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B6B5D-9D8E-48D6-91FF-1ABF14AC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196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 seeds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8573F-40CB-4697-BDF9-F696890E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57750"/>
            <a:ext cx="1752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media no X_test cego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2931E-5FF4-432D-A695-538B1A2B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14400"/>
            <a:ext cx="2190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77590-129B-4B04-A156-2EBDC415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57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Fluxo do benchmark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EF056-A1CA-4478-8133-66B80A96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66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D5465-D2AA-4EC1-99AB-DAF97D99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38325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Dados temporais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A1B02D-09D1-4635-A1A2-DD31BDB0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336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E2F8EA-CE34-43AF-A128-40D20268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52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F6CDF-A6AB-4430-97EC-9896C12C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24125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Features InfoGain_7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CA8840-5378-4E52-97D3-DB53EA5A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194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90843-A74E-427D-8955-3E089F9B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564D2-27DA-4C8E-8B6A-2BF56418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09925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Busca de hiperparametros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C46E55-8264-40DA-AE1C-42502325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052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9484C-3D22-4254-B5CC-4ED9F934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24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EA2F7C-85A7-4AA9-B525-EED66E4F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95725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Teste cego + backtest</a:t>
            </a:r>
          </a:p>
        </p:txBody>
      </p:sp>
    </p:spTree>
    <p:extLst>
      <p:ext uri="{BB962C8B-B14F-4D97-AF65-F5344CB8AC3E}">
        <p14:creationId xmlns:p14="http://schemas.microsoft.com/office/powerpoint/2010/main" val="13327829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E19DF9-5E19-4134-9EE6-5CC21F7D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93EBF-F7A0-4C38-BD41-5BDAEAE7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C2918AC-EFD5-4472-B9EB-13F9EC5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31AD7AB-DE11-4EDE-B975-361E3D9D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TESE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9EB67-89B3-483F-9A1B-0311B28C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 contribuicao principal agora e metodologica, nao apenas um novo resultado de acuracia.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3D1E1-2C17-41D1-9CEE-18945770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81671-DDBB-49D5-BCC4-5DFA7AB2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782BE-B285-4AEE-A12B-EB7403A1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EDAFF-028D-4518-8056-ADBFEB45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596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Substituimos a validacao antiga com shuffle por um split temporal sem vazamento.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94049-BBEE-4597-86EA-E104B3A9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F208A-87BD-4D65-AE36-C35DA2F4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596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Padronizamos budget: 1000 avaliacoes de fitness por seed para todos os otimizadores.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E81F4-B4AE-4C6B-827C-C2BA19E2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3D280-5C59-4364-AF7A-195D2FAD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596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Comparamos dois regimes de fitness e validamos o melhor modelo em teste cego e backtest economico.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3D1D8-054B-4D0E-A117-481A8419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192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91D72-FC92-412A-8C51-2A4569A7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335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MCC/F1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AA82E-23E6-4CBF-82AD-3904071A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71700"/>
            <a:ext cx="2514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fitness recomendado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C8265-C74D-41CB-BB37-646EFB0C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D69A6-FA90-4FCE-998B-DDA93639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MLP + GWO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63BC3-87D2-4BCA-832F-18EB5D31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514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melhor par medio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AD020-D45F-437D-BD89-72DA6963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433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9EB3A-74F6-4C87-821D-0B1B10F3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576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0.6230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7CDC89-2B67-4BC8-9825-59989D0F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95800"/>
            <a:ext cx="2514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accuracy media MCC/F1</a:t>
            </a:r>
          </a:p>
        </p:txBody>
      </p:sp>
    </p:spTree>
    <p:extLst>
      <p:ext uri="{BB962C8B-B14F-4D97-AF65-F5344CB8AC3E}">
        <p14:creationId xmlns:p14="http://schemas.microsoft.com/office/powerpoint/2010/main" val="1686663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03122F-1272-49F0-A6A4-3E22B26A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2CD55-14A2-471C-90FC-2243C6DE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8AB586-DD15-4D1F-898D-8CE19898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67CB0D1-2C3C-416B-A2B0-C40CA323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EVOLUCAO DO PROTOCOLO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D1B9A-4699-4187-8E95-B743BB81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 novo desenho corrige a principal fragilidade da pasta antiga de experimentos.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2FD36-678B-4A8E-9669-99A0F640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811CB-EA14-4812-B985-B5EE5866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3C612-08C9-4D65-B6EB-A922DE2F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0D19F-FAFB-4AD2-83B1-DD3F96D4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857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F69DA-7A73-4C04-8D85-C408F58E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3D3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3D3F"/>
                </a:solidFill>
                <a:latin typeface="Aptos Display"/>
                <a:ea typeface="Aptos Display"/>
                <a:cs typeface="Aptos Display"/>
              </a:rPr>
              <a:t>Antes: experiments/train_model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9B05F-A3EC-42A9-BD28-EE071618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8595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9A14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59A14F"/>
                </a:solidFill>
                <a:latin typeface="Aptos Display"/>
                <a:ea typeface="Aptos Display"/>
                <a:cs typeface="Aptos Display"/>
              </a:rPr>
              <a:t>Agora: benchmark oficial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50CFA-97EB-43CF-B43C-C9D4A6B8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8602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23C68-9295-4C3B-BF68-943EF1C9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Foco em GA e modelos isolados.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DAADD-4936-4339-BC64-6F3C70EF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384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2FCC0-A94F-4192-8F69-CC37C234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StratifiedKFold com shuffle dentro do GA.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D0B8E-A98D-4FE3-9BE2-F2A2DE7A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9092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BDC52-8685-4844-A820-09312864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Comparacoes menos padronizadas por budget.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BBFBF-9905-42BE-96CC-DE9BA6C4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F30EB-4949-4E32-8A2E-86FBDB8D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Menos evidencia economica e estatistica.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115CB-4E3E-4621-9C62-73C571FF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8602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D4A7D-F2B7-45E2-8904-BB0ED360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7650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Split temporal 60/20/20 sem shuffle.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4D9C8-00B6-4B29-8A97-4B01E51C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384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AA77B-F7A3-4501-B358-1487027B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2895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 modelos x 5 otimizadores x 2 fitness.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695577-7F49-49C3-BF6F-0893F590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9092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49255-FDBB-446F-A861-26A06819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8140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Mesmas seeds e mesmo numero de avaliacoes.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BDD373-E6D9-46FC-9B34-9FB2C158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433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F12838-A259-494E-BA26-65E5C661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3385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X_test cego + backtest oficial do melhor par.</a:t>
            </a:r>
          </a:p>
        </p:txBody>
      </p:sp>
    </p:spTree>
    <p:extLst>
      <p:ext uri="{BB962C8B-B14F-4D97-AF65-F5344CB8AC3E}">
        <p14:creationId xmlns:p14="http://schemas.microsoft.com/office/powerpoint/2010/main" val="3320111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95F347-DC8D-4685-B1D9-14387CC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065CE-B568-40EC-A44F-CE68659A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7DCCA10-F914-4E3C-8D81-55A24C41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68B73D5-7065-4686-B3C1-AD11B848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1A614-F361-4DC3-BEB1-59ACE4D3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 divisao temporal transforma o benchmark em um teste mais parecido com mercado real.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2473D-328F-439E-862C-91F3469E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BCF77-D1C2-4142-871D-E6A6C0F0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fa00d5ee9419e"/>
          <a:stretch xmlns:a="http://schemas.openxmlformats.org/drawingml/2006/main"/>
        </p:blipFill>
        <p:spPr>
          <a:xfrm xmlns:a="http://schemas.openxmlformats.org/drawingml/2006/main">
            <a:off x="666750" y="1871409"/>
            <a:ext cx="7524750" cy="373430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964BA-D075-4D59-BC35-4609A621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383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E138D-D442-463A-8047-98BE638F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526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WIN / Mini Indice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825BF-19D7-4C8B-BDBD-EE297C33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9075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27DF3-7073-45FA-A726-1F840B00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98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D50DC-5467-41C1-A54F-E0AE1A72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241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5 minutos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85550-7675-41C5-80A4-4A23EBA7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623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Frequencia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B888D-4A84-48FD-9CFC-32251AD9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772AE-B87B-45E7-B471-AAA8390D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957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2024-01-02 09:40:00 a 2024-06-28 17:50:00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83D57-3564-4DCC-95B4-F902B833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3385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Periodo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EB16E-90CC-41B4-915F-CFBF7F73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529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1310A-D6EF-4423-863B-9CE2F90D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672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20% final sem shuffle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33BF5-555C-416A-A307-CAEE6D7F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054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Teste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00D52-EC72-4F11-99DB-17760BC3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As datas aparecem apos ordenacao temporal e limpeza do pipeline de modelagem.</a:t>
            </a:r>
          </a:p>
        </p:txBody>
      </p:sp>
    </p:spTree>
    <p:extLst>
      <p:ext uri="{BB962C8B-B14F-4D97-AF65-F5344CB8AC3E}">
        <p14:creationId xmlns:p14="http://schemas.microsoft.com/office/powerpoint/2010/main" val="220431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0819EE-79DF-4187-B875-3BD3DA13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8DCF3-A77A-4A43-9551-0BFB232B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39885B-3E81-4DF2-B018-27445CA3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011E03-6F57-4625-8CC0-BE5A6644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96E28-6EEA-44E4-853D-E88A11AC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 benchmark manteve o conjunto enxuto InfoGain_7 para isolar o efeito dos otimizadores.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4DB52-0A5B-4952-8289-725C5FD9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6D913-E7B5-4D15-9C35-F88BA936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F1CC8-E32F-4E1A-A044-DD19D519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FC01F-2E48-465A-BCCB-59841D5C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137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E6C3D-3F91-4C3E-8496-42D0F920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8115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57521-9A34-4D73-AA1F-79E6DF90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66875"/>
            <a:ext cx="6515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 efetiva no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13EDA-BE25-42A7-AA07-10071499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09E97-3E10-4B36-9854-3C770BD5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24075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68180-EBA9-4DDF-9FD1-8D3BAAA0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5740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684CA-D2F4-4E24-AABA-521C2F75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24075"/>
            <a:ext cx="651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EMA_5-3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EC30F-2D57-431C-BA2B-1DF69A4C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0F52C9-42DA-4D6C-97FB-AE1B8B32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E7ECC-A634-4FD0-A505-8C153C85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3365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897B4-8F04-44AD-8621-49C2600E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00325"/>
            <a:ext cx="651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EMA_5-3_normalized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E8F6A-3C0C-402D-B6E0-7C3EAD48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9A3FE-0755-459A-B8A6-7E4E4638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850C9-66FA-4970-B0CF-624A8C27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990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865BB-2816-4003-B94C-AD564C02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76575"/>
            <a:ext cx="651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EMA_7-3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177279-B3BB-485D-A03C-917685D5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29ED26-F5AA-4817-90A9-AB32676D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2726C1-7757-4908-81FE-1D1334EF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9BDC2-BE92-4756-AD50-8AB53B8F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52825"/>
            <a:ext cx="651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EMA_7-3_normalized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A886DC-829E-425D-9A68-0E87D2D9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8875FC-D49D-40C8-8070-EC4A5A48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9E5C13-3BD8-4140-8588-CC387522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6240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1FAA98-DC7E-47AF-8879-65CEE73B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29075"/>
            <a:ext cx="651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SMA_9_normalized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244099-0FCD-4C66-89E3-205ADDC9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E1DC74-4680-4B2C-83CB-73156A02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01F1A1-464E-41D8-9514-30669947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38D75F-C48D-4223-AF41-4CEBF28F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05325"/>
            <a:ext cx="651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EMA_9-3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226C9C-1BEE-49F1-B3FB-060A37BC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FFEB3E-5641-45A6-B5F1-602766D1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B135BC-E0C0-4839-80B6-538D1E01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1490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3109EA-2D9F-461B-A4F5-5F524FEE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81575"/>
            <a:ext cx="651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EMA_7_normalized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CB5779-1F0A-41B9-B65B-B4AD529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76400"/>
            <a:ext cx="2095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66E868-4387-408F-A904-56F62575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Nota de leitura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9EAC1E-CAAB-47EB-8D84-87FFE3C6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1666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Observacao: os indices do config sao resolvidos sobre as features numericas usadas pelo pipeline, nao sobre o CSV bruto completo.</a:t>
            </a:r>
          </a:p>
        </p:txBody>
      </p:sp>
    </p:spTree>
    <p:extLst>
      <p:ext uri="{BB962C8B-B14F-4D97-AF65-F5344CB8AC3E}">
        <p14:creationId xmlns:p14="http://schemas.microsoft.com/office/powerpoint/2010/main" val="96770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7032AC-B612-4B0D-B0D5-6FCF637E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4421E-29E7-4299-9547-9B04A102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B7697EF-82A8-43D9-B147-B7C5DED8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1AEA771-772D-4075-BBB8-734DC484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MODELOS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B26F8-30E0-4E2D-BCA4-990EF090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Comparamos modelos classicos e deep learning sob o mesmo protocolo.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55A41-060F-430D-BB19-23D6C016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F1023-12DE-474C-90DF-1D42543C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4dd569e4045ab"/>
          <a:stretch xmlns:a="http://schemas.openxmlformats.org/drawingml/2006/main"/>
        </p:blipFill>
        <p:spPr>
          <a:xfrm xmlns:a="http://schemas.openxmlformats.org/drawingml/2006/main">
            <a:off x="666750" y="1586962"/>
            <a:ext cx="4572000" cy="2522026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3ec30c71a4027"/>
          <a:stretch xmlns:a="http://schemas.openxmlformats.org/drawingml/2006/main"/>
        </p:blipFill>
        <p:spPr>
          <a:xfrm xmlns:a="http://schemas.openxmlformats.org/drawingml/2006/main">
            <a:off x="5940488" y="1562100"/>
            <a:ext cx="4692523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9569F-B26F-4012-9BDD-5B77D4C0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MLP: rede densa para padroes nao lineares nas features tecnicas.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69BC3-BCA6-4F06-937C-8D95A9A4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466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CNN: convolucoes 1D para padroes locais nos indicadores.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63D96-490B-42CF-AC15-205569ED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720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D580E-1829-4DE9-9A80-51602E7D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62550"/>
            <a:ext cx="8153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SVM testa margem e kernels linear/RBF.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AC21C-5A95-49A4-9496-4DFE6F64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2452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61CB2-9587-44FF-BABE-540A5DDD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15000"/>
            <a:ext cx="8153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Random Forest testa ensembles de arvores robustos.</a:t>
            </a:r>
          </a:p>
        </p:txBody>
      </p:sp>
    </p:spTree>
    <p:extLst>
      <p:ext uri="{BB962C8B-B14F-4D97-AF65-F5344CB8AC3E}">
        <p14:creationId xmlns:p14="http://schemas.microsoft.com/office/powerpoint/2010/main" val="8739518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34C9D5-3462-4AB6-A5DD-3E1928AD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57995-86D6-4136-B858-9ED7C8CB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E9BB9D2-5F7E-4DB2-980E-E9BCB13A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3606BE0-C832-4CCE-A911-1E7A567B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OTIMIZADORES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2B3C8-401C-49BE-9C28-5141F751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Cinco estrategias cobrem busca aleatoria, evolucao, enxame e populacoes diferenciais.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89349-D674-4309-BD10-C9902A80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94356-7DD7-4958-B635-0B111650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503D9-6EFA-4CBA-80DA-BE783166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25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1D766-90A5-41FD-9FD1-CB96EF44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290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Random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3BD29-B548-4A62-8DD9-4C08312A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90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Baseline: amostra o espaco sem memoria.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D0FE4-D87E-49CC-AE2A-775EE6AB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1638300"/>
            <a:ext cx="325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F1BD7-D1AE-4732-B846-265CFFE7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1781175"/>
            <a:ext cx="290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GA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86181-D2F1-4123-A2B0-6AF5BF28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2133600"/>
            <a:ext cx="290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Selecao, crossover e mutacao.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B8022-7548-4EE5-BEB1-EB2C73D4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1638300"/>
            <a:ext cx="325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54842-DBF5-4D16-826F-67C52C4D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1781175"/>
            <a:ext cx="290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PSO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A3410-7D7D-41CF-B1E7-38EEA79F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2133600"/>
            <a:ext cx="290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Particulas seguem melhor posicao individual e coletiva.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4DEF6-4A40-45ED-9B4E-72982C7A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325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ADD32-74B1-4C50-85C3-10536888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290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29C2E-80A3-4570-B0AF-4040FD5D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90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Perturba vetores usando diferencas populacionais.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747B0-0878-407D-A05A-1E12E38A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2876550"/>
            <a:ext cx="325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2A099-7224-46FA-9A56-FC45D730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3019425"/>
            <a:ext cx="290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GWO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0E9C77-ECE8-4D63-9EED-D274A210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3371850"/>
            <a:ext cx="290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Lideranca alfa/beta/delta guia exploracao.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34D15-BBB7-401D-9864-5ADCB1F3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No material, PCA foi corrigido para PSO: Particle Swarm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0165294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F70685-680C-480D-8D79-5B381C68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0D0FD-061D-4CBC-9633-DEAE93A4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4F92A64-EDC1-41AE-907F-D6ABE323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15EA6E4-C7C0-4B18-8FCB-2680FD5C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ESPACOS DE BUSCA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36754-14D5-471A-9E2F-1E1137A1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Cada modelo teve um espaco de hiperparametros proprio, mas o budget foi comum.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6CA55-7334-4E85-8A97-B25B2F86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7493F-6A56-4D77-8036-06C5A9E6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81164-42F5-4E19-BE2F-37A08202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FE4AB-772A-45BF-9DAF-EBD5EF97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1371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DF76E-A17A-4B7E-9828-C2C0C5D3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81150"/>
            <a:ext cx="666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78816-6CF3-4EEC-8A35-1BC3098C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66875"/>
            <a:ext cx="6515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Parametros otimizados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22D91-F07F-4196-9EAB-56F686E9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EAB00-11E0-4A1B-BC24-C04D7F7E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371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MLP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B056D-7E4B-4F26-B082-E7D49258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19350"/>
            <a:ext cx="666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3EBC5-3CC3-477F-A11D-0C407699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86025"/>
            <a:ext cx="6515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hidden_neurons: 5 - 500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learning_rate: 1e-08 - 0.01 (log10)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l2_alpha: 1e-08 - 0.01 (log10)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dropout_rate: 0.0 - 0.1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05330-B7D2-4DE0-96CC-62EECBC3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4585D-4362-4364-B70E-DF2A6A92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371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SVM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66748-7C79-4AB2-9684-425E0C9D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57550"/>
            <a:ext cx="666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788E48-D935-4C71-9605-381E2A53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24225"/>
            <a:ext cx="6515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C: 0.001 - 1.0e3 (log10)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gamma: 1e-05 - 1.0e1 (log10)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kernel: linear, rbf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4241E-540B-427F-95F7-D1B220F6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79CF7-B794-4A8A-9260-1D5548B9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1371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1591B-7B6E-4A3D-8A38-CB5AA54E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95750"/>
            <a:ext cx="666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0F64D3-6E5D-4E70-A4B3-6C0EB77E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62425"/>
            <a:ext cx="6515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n_estimators: 50 - 500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max_depth: 5 - 50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min_samples_split: 2 - 20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min_samples_leaf: 1 - 20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0EB3B-BAF1-4135-AD4A-7A6C0DA5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16D37-D9ED-4DB7-B644-ED87F30D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371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CNN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639A08-8653-4161-B5BA-F137418C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33950"/>
            <a:ext cx="666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C754E-F632-4A8B-85D3-A355104D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00625"/>
            <a:ext cx="6515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n_filters: 8 - 128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kernel_size: 2 - 5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dense_neurons: 16 - 256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learning_rate: 1e-08 - 0.01 (log10)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63ED16-5382-4702-92FC-AD7CF6CD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76400"/>
            <a:ext cx="2095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AA96D9-6C36-45C3-9E7F-BB306129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Nota de leitura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8904B2-7E52-4AAB-A72B-2CBED631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1666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Todos os candidatos sao normalizados para limites validos antes da avaliacao.</a:t>
            </a:r>
          </a:p>
        </p:txBody>
      </p:sp>
    </p:spTree>
    <p:extLst>
      <p:ext uri="{BB962C8B-B14F-4D97-AF65-F5344CB8AC3E}">
        <p14:creationId xmlns:p14="http://schemas.microsoft.com/office/powerpoint/2010/main" val="17150351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F107A1-A4D8-4A21-8729-E77CB5C8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C4631-FD92-4003-B3A5-C18D3115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1F7622C-6A31-4126-B003-12B7CDC8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6CBFD3A-8C2B-44D1-815C-CFB77468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CONFIGURACAO OFICIAL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BD1EE-E173-46A9-B971-F17847D3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 benchmark final foi desenhado para comparar otimizadores por numero de avaliacoes.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754DE-1D86-4E4A-8F37-3AD01427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619E4-61BD-4D0E-976B-B020F2AB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CEE00-8E48-42A2-A196-3EF78086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25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76141-D2F5-4C4E-922E-A81CD9A8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290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Seeds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CC87A-D03C-4A16-9AED-D9359760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90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1, 2 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65E81-2470-47FF-8E72-D6B2B3F8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1638300"/>
            <a:ext cx="325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09792-6DCC-477B-BB83-570FFC59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1781175"/>
            <a:ext cx="290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Budget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2A66F-8304-4507-860F-2DA30AFC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2133600"/>
            <a:ext cx="290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1000 avaliacoes por seed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FE820-0B97-4ACE-BC86-86417F5B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1638300"/>
            <a:ext cx="325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35724-CCC3-41AE-A3FA-7CA4F74A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1781175"/>
            <a:ext cx="290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GA / 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33884-BC85-4E65-BC2F-19E9E3F0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2133600"/>
            <a:ext cx="290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Populacao = 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4EA1F-741F-44CF-930C-D81AE426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325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76480-3385-4065-B532-144A992E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290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PSO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593440-780A-405D-B4D8-9B21E62C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90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 particulas; inertia 0.70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89933-48FE-4290-B55B-5277E6DA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2876550"/>
            <a:ext cx="325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B9D76-6709-4482-91DA-E02E3077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3019425"/>
            <a:ext cx="290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GWO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F218E-A8CE-4F1D-80D9-F246208F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3371850"/>
            <a:ext cx="290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 lobos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61525F-DD2F-489F-9B53-4CF1DDF4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2876550"/>
            <a:ext cx="325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FADE0E-3FB8-40D5-BC66-BC4F03B1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019425"/>
            <a:ext cx="290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MLP/CNN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0BA2A2-05C2-4DD2-993B-62A7AE14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371850"/>
            <a:ext cx="290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tanh + rmsprop; max_epochs=10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6FED4A-5D42-48FD-8FAE-1CBEE509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 metrica final e sempre no X_test cego; fitness bruto nao e comparado entre formulas diferentes.</a:t>
            </a:r>
          </a:p>
        </p:txBody>
      </p:sp>
    </p:spTree>
    <p:extLst>
      <p:ext uri="{BB962C8B-B14F-4D97-AF65-F5344CB8AC3E}">
        <p14:creationId xmlns:p14="http://schemas.microsoft.com/office/powerpoint/2010/main" val="6415943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1BA0F5-C27E-4BA0-8F2D-CD70C0AE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9152F-5002-4BED-856C-6F7D5B74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44272AA-A2E2-470A-8CA3-61E6F8A0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2ACE53B-DC94-4401-9331-45559259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FITNESS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681B8-D86E-4A1B-8A44-52782672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Testamos duas funcoes objetivo com intencoes diferentes.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8C082-FEA1-4E77-9B8D-F6773657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D57FF-168F-4C56-8DBB-23DCD77D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CB616-CA5A-4401-B277-64DB4984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953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4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105D8-8D18-40DE-B58A-676B310E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MCC/F1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06373-E7D2-47D5-A37D-BA14A902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4400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0.6 * MCC + 0.4 *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200B8-4ED9-48FC-B9B1-936DE1C6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4229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Prioriza equilibrio de classe e qualidade da classificacao.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372F4-A5D0-4538-B80E-C4992FF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4953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8E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8FC40-C2D5-4E53-877B-59BAAD60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8E2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28E2B"/>
                </a:solidFill>
                <a:latin typeface="Aptos Display"/>
                <a:ea typeface="Aptos Display"/>
                <a:cs typeface="Aptos Display"/>
              </a:rPr>
              <a:t>Accuracy-CV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7C586-670F-48D7-952D-424AF846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4400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mean(0.4 * Acc_train + 0.6 * Acc_val)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568C8-CD09-4F80-AF44-38ADEB05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24250"/>
            <a:ext cx="4229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Usa TimeSeriesSplit com 3 folds para estabilidade temporal.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016D7-7C90-48AA-B1C4-42A5E127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 conclusao usa metricas iguais no teste, nao o valor numerico de fitness.</a:t>
            </a:r>
          </a:p>
        </p:txBody>
      </p:sp>
    </p:spTree>
    <p:extLst>
      <p:ext uri="{BB962C8B-B14F-4D97-AF65-F5344CB8AC3E}">
        <p14:creationId xmlns:p14="http://schemas.microsoft.com/office/powerpoint/2010/main" val="13765399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58C698-4C0A-4EB9-8672-8AF32DB8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FCD66-58F1-4DE0-A9C0-EDA4F629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5E7F813-F2DD-4230-95F7-FD46BD61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396D109-638F-4F24-9EC2-E3E88069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PRE-TESTE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30A5A-3478-436A-9169-41BD4519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 pre-teste estrutural escolheu rmsprop + tanh para levar ao benchmark oficial.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E0265-C30B-441A-AFDE-603A6EC8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9BDE9-FED6-4768-98DB-9F88AAC2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e96fb7ab246fd"/>
          <a:stretch xmlns:a="http://schemas.openxmlformats.org/drawingml/2006/main"/>
        </p:blipFill>
        <p:spPr>
          <a:xfrm xmlns:a="http://schemas.openxmlformats.org/drawingml/2006/main">
            <a:off x="666750" y="1793964"/>
            <a:ext cx="7524750" cy="388919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576D2-372E-4C43-93D5-D3C4D460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383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30307-949C-4AF2-A2A8-A24C3DC6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526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0.4159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A1A6E-8B6D-42C0-BF64-0A16673D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9075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MLP ADAM + RELU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C1631-1755-442F-BC7E-8B98F743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98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5D843-B28C-4224-B210-99004A72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241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0.4264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32DDD-D68C-4F05-9A87-989F8E8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623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MLP ADAM + TANH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916ED-429A-4F48-BB76-4F060B6E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A5BCE-CED1-4F7C-9CBE-933E0617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957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0.4229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C13CE-F275-410C-A87B-F2FDC055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3385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MLP RMSPROP + RELU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AA1E4-E45A-4942-AEE3-1E7B553D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529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4A08B-A63E-4A74-9E40-647EEECE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672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0.4286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C393E-FEA5-4F6E-AEAB-2A129199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054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MLP RMSPROP + TANH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153B9-12DA-4BC6-A73A-68A331CD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Fonte: structural_fast_official_space; etapa exploratoria para fixar treinamento/ativacao.</a:t>
            </a:r>
          </a:p>
        </p:txBody>
      </p:sp>
    </p:spTree>
    <p:extLst>
      <p:ext uri="{BB962C8B-B14F-4D97-AF65-F5344CB8AC3E}">
        <p14:creationId xmlns:p14="http://schemas.microsoft.com/office/powerpoint/2010/main" val="14942843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DB0436-D089-4AED-8DFF-0E301A53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59D0A-20A0-47C8-8A55-388F3E36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0415C81-D311-48CF-9331-A2331DC3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C9DE0C-E085-4B02-BE5E-B15F9F1C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MCC/F1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AD86F-3D57-42F8-9E61-53023BFD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GA, PSO e GWO estabilizam rapido; MLP e CNN convergem para regioes parecidas.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7A43A-DB09-45DD-B534-194E3702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2DEC8-0FDF-4199-8444-9DBDE1AA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f9cb18b9e47b8"/>
          <a:stretch xmlns:a="http://schemas.openxmlformats.org/drawingml/2006/main"/>
        </p:blipFill>
        <p:spPr>
          <a:xfrm xmlns:a="http://schemas.openxmlformats.org/drawingml/2006/main">
            <a:off x="691261" y="1466850"/>
            <a:ext cx="10485629" cy="4514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E6F99-EC1B-4E6F-B7D6-997E9D1E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952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Eixo X = evaluation_id; eixo Y = best_fitness_so_far medio nas seeds 1, 2 e 3.</a:t>
            </a:r>
          </a:p>
        </p:txBody>
      </p:sp>
    </p:spTree>
    <p:extLst>
      <p:ext uri="{BB962C8B-B14F-4D97-AF65-F5344CB8AC3E}">
        <p14:creationId xmlns:p14="http://schemas.microsoft.com/office/powerpoint/2010/main" val="19737866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1040C1-83ED-4828-885A-7507C8DB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87005-179B-4D21-BE5D-ADBCCC56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B00D665-80A7-4C06-B7A2-2EE83F2F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3A0182E-67D0-4F6F-8F08-A8BCF8D6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ACCURACY-CV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738C1-964D-4DB6-B620-C3D90FE6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 fitness de acuracia temporal sobe em escala diferente, mas deve ser julgada no mesmo X_test.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0EAC1-2A5E-419B-8A22-1EC64ACE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62057-8B51-4AFC-BF6A-9EA2A159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3becf4c1440d4"/>
          <a:stretch xmlns:a="http://schemas.openxmlformats.org/drawingml/2006/main"/>
        </p:blipFill>
        <p:spPr>
          <a:xfrm xmlns:a="http://schemas.openxmlformats.org/drawingml/2006/main">
            <a:off x="691261" y="1466850"/>
            <a:ext cx="10485629" cy="4514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28988-50B6-4BAC-A469-25E54D96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952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Escalas diferentes de fitness nao podem ser comparadas diretamente contra MCC/F1.</a:t>
            </a:r>
          </a:p>
        </p:txBody>
      </p:sp>
    </p:spTree>
    <p:extLst>
      <p:ext uri="{BB962C8B-B14F-4D97-AF65-F5344CB8AC3E}">
        <p14:creationId xmlns:p14="http://schemas.microsoft.com/office/powerpoint/2010/main" val="200806622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1A8845-3184-4B33-B4AC-0D3F1020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8E53D-01EC-4D86-B324-F74A5E9B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06FA97-6889-40C0-A491-82D9AB52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CDF6521-BB5C-40AD-B347-2C8B982D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RESULTADOS MCC/F1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17455-6123-493A-B904-44130359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No teste cego, MLP + GWO foi o melhor par medio em MCC e accuracy.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65A1B-FE94-4841-AC71-B88028D5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35502-683E-41CB-B7F5-B6E1D3FD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21f60af6e48db"/>
          <a:stretch xmlns:a="http://schemas.openxmlformats.org/drawingml/2006/main"/>
        </p:blipFill>
        <p:spPr>
          <a:xfrm xmlns:a="http://schemas.openxmlformats.org/drawingml/2006/main">
            <a:off x="1464399" y="1466850"/>
            <a:ext cx="8939353" cy="4514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DF81B-647A-4457-83AA-40B43811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952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Barras mostram media; hastes mostram erro padrao da media; pontos mostram as seeds individuais.</a:t>
            </a:r>
          </a:p>
        </p:txBody>
      </p:sp>
    </p:spTree>
    <p:extLst>
      <p:ext uri="{BB962C8B-B14F-4D97-AF65-F5344CB8AC3E}">
        <p14:creationId xmlns:p14="http://schemas.microsoft.com/office/powerpoint/2010/main" val="1284966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F64A3D-E378-491E-867C-A68BA3EF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6A66C-71FF-4746-A101-0EA3F365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C51DC52-3CB8-4E48-A2B8-974BB372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274BCF8-FBC7-4AB9-A236-30DAD893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RESULTADOS ACCURACY-CV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C6B37-92B9-45FD-92C6-E2E5195B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Accuracy-CV tambem escolhe MLP + GWO, mas perde levemente para MCC/F1 no criterio final.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B3BCE-4A5F-43FF-9E00-81CD50F5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89089-45FE-4343-830B-CF61C0B5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24af06f974bdc"/>
          <a:stretch xmlns:a="http://schemas.openxmlformats.org/drawingml/2006/main"/>
        </p:blipFill>
        <p:spPr>
          <a:xfrm xmlns:a="http://schemas.openxmlformats.org/drawingml/2006/main">
            <a:off x="2448238" y="1466850"/>
            <a:ext cx="6971675" cy="4514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AE0E0-FC0D-48A0-984B-2CFDAB8E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952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 grafico mostra accuracy no X_test por modelo e otimizador.</a:t>
            </a:r>
          </a:p>
        </p:txBody>
      </p:sp>
    </p:spTree>
    <p:extLst>
      <p:ext uri="{BB962C8B-B14F-4D97-AF65-F5344CB8AC3E}">
        <p14:creationId xmlns:p14="http://schemas.microsoft.com/office/powerpoint/2010/main" val="18695363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EB1568-0AED-429B-A838-B10B8938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A995D-FE15-4E94-A9A1-9E4D9738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218A0FA-19E5-41C7-9F23-518F4F4C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E0294D-B5D3-4D9A-BEE8-E8C7501B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AJUSTE VS TESTE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2BCE6-1058-4A90-B9CA-8EC7F6FB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No regime MCC/F1, o sinal de validacao e o teste mostram estabilidade nos melhores pares.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7E9F7-D866-438B-BBB5-558229C5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F4B46-AB81-4034-9656-A1A8AE14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dd89c094341d8"/>
          <a:stretch xmlns:a="http://schemas.openxmlformats.org/drawingml/2006/main"/>
        </p:blipFill>
        <p:spPr>
          <a:xfrm xmlns:a="http://schemas.openxmlformats.org/drawingml/2006/main">
            <a:off x="2379301" y="1466850"/>
            <a:ext cx="7109549" cy="4514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75466-10B5-4CED-884B-6AB8CB72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952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Para MCC/F1, o sinal disponivel e acuracia de validacao do candidato vencedor.</a:t>
            </a:r>
          </a:p>
        </p:txBody>
      </p:sp>
    </p:spTree>
    <p:extLst>
      <p:ext uri="{BB962C8B-B14F-4D97-AF65-F5344CB8AC3E}">
        <p14:creationId xmlns:p14="http://schemas.microsoft.com/office/powerpoint/2010/main" val="118258174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EF7D41-738A-45B7-B1DF-1548280D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F7F16-F233-4D17-8094-C7785469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643A95-8EFE-4EB8-A8F9-FD8C38D6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3084A1B-B948-40A4-8EC9-8341F0F6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AJUSTE VS TESTE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20FB7-6617-479F-9CF0-6F29125F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No Accuracy-CV, o grafico contrasta acuracia media de treino CV com o X_test cego.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2CC74-0EAD-4732-B2EB-52B8BB13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77DD1-EC46-41C1-B3B3-07E1FF32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408c204ff49f0"/>
          <a:stretch xmlns:a="http://schemas.openxmlformats.org/drawingml/2006/main"/>
        </p:blipFill>
        <p:spPr>
          <a:xfrm xmlns:a="http://schemas.openxmlformats.org/drawingml/2006/main">
            <a:off x="2379301" y="1466850"/>
            <a:ext cx="7109549" cy="4514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936F5-0369-4D90-8EB9-1BD2D3D6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952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 objetivo usa folds temporais; o teste final permanece intocado.</a:t>
            </a:r>
          </a:p>
        </p:txBody>
      </p:sp>
    </p:spTree>
    <p:extLst>
      <p:ext uri="{BB962C8B-B14F-4D97-AF65-F5344CB8AC3E}">
        <p14:creationId xmlns:p14="http://schemas.microsoft.com/office/powerpoint/2010/main" val="12540388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F3862B-8C52-47BD-9C73-7FFA878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41E11-0B54-4C27-80A2-035DCBD4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2E65465-0577-4696-A6A3-1E0BC2B7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749A4D9-7166-4A5B-9E18-91179DFA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COMPARACAO DOS FITNESS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18F46-8593-43AA-A8D2-2A50E991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MCC/F1 vence levemente no agregado de accuracy e MCC no X_test.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2F2ED-C03D-4E30-AA72-6FCF946C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72D0D-4953-45E4-8881-8C475543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f0bb3bfc34e54"/>
          <a:stretch xmlns:a="http://schemas.openxmlformats.org/drawingml/2006/main"/>
        </p:blipFill>
        <p:spPr>
          <a:xfrm xmlns:a="http://schemas.openxmlformats.org/drawingml/2006/main">
            <a:off x="852939" y="1571625"/>
            <a:ext cx="7152372" cy="4333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AE383-B7E3-4AF1-9D24-1B4AA1BB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383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47DAD-B28A-44F8-8D4C-AE0DD9EE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526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+0.0032 para MCC/F1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B06A5-377B-4FCE-BC37-FAB46397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9075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Delta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31EF5-4A8E-4C9B-8E7D-0C23071B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98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A4FBD-8C25-4BEE-AD4F-04BBCD40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241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+0.0079 para MCC/F1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E5871-8A5E-4943-BEC1-AB05ABA9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623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Delta MCC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A3031-84BE-41B2-81D8-39AD642D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7D370-60C4-4FF7-8A4C-4DE51A8F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957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13 de 20 em accuracy e MCC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6E5D4-3799-4A17-93FA-A435449C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3385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Vitorias por combo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51744-DFE6-41DF-AF2F-64139C12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Accuracy-CV melhora alguns casos especificos, especialmente CNN/MLP em otimizadores menos estaveis.</a:t>
            </a:r>
          </a:p>
        </p:txBody>
      </p:sp>
    </p:spTree>
    <p:extLst>
      <p:ext uri="{BB962C8B-B14F-4D97-AF65-F5344CB8AC3E}">
        <p14:creationId xmlns:p14="http://schemas.microsoft.com/office/powerpoint/2010/main" val="114198824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226309-4A39-4C45-A06F-9693AEBE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18F35-10A5-4A6D-A4C0-0A43427F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C9FAD78-003E-42A7-B38D-8273DA21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1F50506-2C92-46DF-A3E9-8CDB9E4D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MELHOR MODELO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20D20-E4F3-466C-8F36-087F7EC8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MLP + GWO e o ponto de convergencia das duas fitness.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28729-6B85-492F-9F65-E251BC72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73F28-6264-4093-B6AD-B3A25AD7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3139b0e6248d1"/>
          <a:stretch xmlns:a="http://schemas.openxmlformats.org/drawingml/2006/main"/>
        </p:blipFill>
        <p:spPr>
          <a:xfrm xmlns:a="http://schemas.openxmlformats.org/drawingml/2006/main">
            <a:off x="666750" y="1752260"/>
            <a:ext cx="7524750" cy="397260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E7262-A24B-46CB-8235-120E9E6C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383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033EE-988A-483E-A84E-BA7606C9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526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0.6525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24D5A-96F9-43B7-B35E-A53D18B6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9075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MCC/F1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0CFE6-6BBC-4F32-8CB5-905BDF19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98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14275-5907-44A6-A5B2-04FE7CCF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241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0.3047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D3F78-FB4A-492A-A4D4-838E55E5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623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MCC/F1 MCC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3F7E6-257F-4F64-9DE8-25DDB877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65EB8-D2AA-4485-9058-E5C54080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957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0.6515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7552A-0378-4786-967A-97FBDA6E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3385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Accuracy-CV accuracy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428AC-F230-404E-B7A2-46C53A7E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529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A7932-489F-4F9A-A0B2-8BEC74AF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672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0.3028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8E3FF7-547C-424F-861E-3458B258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054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Accuracy-CV MCC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5F31A-C11F-4C51-B51F-318D773D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 diferenca e pequena, mas favorece MCC/F1 para a narrativa principal.</a:t>
            </a:r>
          </a:p>
        </p:txBody>
      </p:sp>
    </p:spTree>
    <p:extLst>
      <p:ext uri="{BB962C8B-B14F-4D97-AF65-F5344CB8AC3E}">
        <p14:creationId xmlns:p14="http://schemas.microsoft.com/office/powerpoint/2010/main" val="26580710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6ABD4F-723A-473A-9C74-5F32C563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E5E8C-80EC-4963-A03D-6BA04740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93B062B-9601-47AE-8ED4-CA6216D0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BBEC351-F895-4EE4-80C7-26275FBA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GAP GLOBAL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3A3B1-3494-4B2F-9281-9DCAAB11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 leitura por gap mostra onde cada combinacao fica em relacao ao melhor MCC.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19E1F-DD49-4115-B0FD-D8E6C208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C9637-A638-4BB6-AA2E-8E98A763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3f4500d4140b0"/>
          <a:stretch xmlns:a="http://schemas.openxmlformats.org/drawingml/2006/main"/>
        </p:blipFill>
        <p:spPr>
          <a:xfrm xmlns:a="http://schemas.openxmlformats.org/drawingml/2006/main">
            <a:off x="3953287" y="1466850"/>
            <a:ext cx="3961576" cy="4514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B726B-604B-4C98-BF39-F3038EBE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952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Formula: (valor_combo - melhor_global) / |melhor_global| * 100.</a:t>
            </a:r>
          </a:p>
        </p:txBody>
      </p:sp>
    </p:spTree>
    <p:extLst>
      <p:ext uri="{BB962C8B-B14F-4D97-AF65-F5344CB8AC3E}">
        <p14:creationId xmlns:p14="http://schemas.microsoft.com/office/powerpoint/2010/main" val="104681393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CD2EC3-8A8D-4B35-ACE5-880182D4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07136-FBC5-4316-89C6-09917B5F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A43F030-9697-40A0-8AE3-4B81FF7F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6191B46-F36E-4010-8E2A-4DA96BAD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GAP GLOBAL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CDE1D-7164-40F3-8A40-72EDF300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Em accuracy, as melhores combinacoes ficam muito proximas; RF sofre mais com Accuracy-CV.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7F6AE-AF89-469E-A167-1715E629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4BC34-F7E2-4D3A-843D-53A7F5A3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9f4e643c8429c"/>
          <a:stretch xmlns:a="http://schemas.openxmlformats.org/drawingml/2006/main"/>
        </p:blipFill>
        <p:spPr>
          <a:xfrm xmlns:a="http://schemas.openxmlformats.org/drawingml/2006/main">
            <a:off x="3953287" y="1466850"/>
            <a:ext cx="3961576" cy="4514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2F8F5-4348-4DFD-B95D-6EFB09E9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952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 melhor global em accuracy no teste e MLP + GWO sob MCC/F1.</a:t>
            </a:r>
          </a:p>
        </p:txBody>
      </p:sp>
    </p:spTree>
    <p:extLst>
      <p:ext uri="{BB962C8B-B14F-4D97-AF65-F5344CB8AC3E}">
        <p14:creationId xmlns:p14="http://schemas.microsoft.com/office/powerpoint/2010/main" val="106244047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E0742F-74E7-4CD9-9EE8-305F798A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BEE2B-CE1F-4B5E-91CA-FC14798E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A055626-8BC8-4FF2-939C-12328C14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E17DDA3-A0D7-4C3C-8FED-9566A4AD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BACKTEST OFICIAL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D903B-3590-4ACA-BC7B-D84CBA5B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 teste economico confirma que ambos os fitness superam o baseline long-only no periodo cego.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B6B26-E4B3-4E73-9CE5-74E96EDC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8B7EC-3B02-47B6-ADFB-5024AC5D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dde703f3247aa"/>
          <a:stretch xmlns:a="http://schemas.openxmlformats.org/drawingml/2006/main"/>
        </p:blipFill>
        <p:spPr>
          <a:xfrm xmlns:a="http://schemas.openxmlformats.org/drawingml/2006/main">
            <a:off x="666750" y="1777839"/>
            <a:ext cx="7524750" cy="392144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A15D8-D09B-47A9-B57F-BCD99DC4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383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DA805-B8F1-4F29-A927-B30C7831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526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28.277 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5983B-BDA7-44B9-8FFC-60A73DE6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9075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MCC/F1 lucro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393DC-B779-45F0-A2A4-C22DBFF4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98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AFA20-4BA8-444F-A727-25491B9E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241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28.407 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6D165-AFE6-46A7-8DC6-E17C61DA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623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Accuracy-CV lucro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18CB0-5135-4DB4-80AF-4A9768AD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B9997-EFB6-4B30-B97C-EDC0B5A4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957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130 pts para Accuracy-CV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D4000-9B00-4A56-9138-08ED468F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3385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Delta economico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AF068-C72B-48AD-BE01-944D5F1C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Estrategia: long se y_pred=1, short se y_pred=0, custo fixo de 5 pontos por trade.</a:t>
            </a:r>
          </a:p>
        </p:txBody>
      </p:sp>
    </p:spTree>
    <p:extLst>
      <p:ext uri="{BB962C8B-B14F-4D97-AF65-F5344CB8AC3E}">
        <p14:creationId xmlns:p14="http://schemas.microsoft.com/office/powerpoint/2010/main" val="134204303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6B3B59-AA41-4E18-9F00-F19858F5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E5567-F4F3-4858-A95A-A5F0C552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6C119A3-02FD-4574-AB87-68374AA5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4588556-55F2-4A94-BFE2-2188905A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ECONOMICO + ESTATISTICA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EFBF8-0DAD-4C31-9537-5CC70053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 diferenca economica entre os dois fitness nao aparece estatisticamente forte.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233F8-293A-487E-8798-472A429F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D67C9-989C-4F08-9D09-9562DD31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37246eb4443c8"/>
          <a:stretch xmlns:a="http://schemas.openxmlformats.org/drawingml/2006/main"/>
        </p:blipFill>
        <p:spPr>
          <a:xfrm xmlns:a="http://schemas.openxmlformats.org/drawingml/2006/main">
            <a:off x="1151143" y="1571625"/>
            <a:ext cx="6555964" cy="4333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CC819-27E6-4CB8-BF40-C217428E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383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ABDFF-9713-403A-A253-40D34AC6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526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18022-F1B9-4C8B-961F-7A6FE450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9075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Dias pareados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981FC-F7D4-4007-B4A9-195BB9AD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98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85610-F1E3-45C1-9CB7-4BAC9ADD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241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-4.81 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D3F26-F6A3-4065-9C05-58BEF3BF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623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Dif. diaria media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39BC7-6E75-4398-9C54-2A0591D3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63608-0582-4958-BD0E-A2F326C3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957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-24.2 a 15.1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D31BC-D2A9-421B-9185-C27EE886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3385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CI bootstrap 95%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EDDCE-06BE-428B-B6D2-435A0D03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529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59AAB-08A7-4101-8587-8ED01A5A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672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0.647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657ED2-22AF-41B5-9C0E-2271BAB8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054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Wilcoxon 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AE145-2C50-4FF7-B4D6-F700A361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Comparacao diaria: MCC/F1 menos Accuracy-CV.</a:t>
            </a:r>
          </a:p>
        </p:txBody>
      </p:sp>
    </p:spTree>
    <p:extLst>
      <p:ext uri="{BB962C8B-B14F-4D97-AF65-F5344CB8AC3E}">
        <p14:creationId xmlns:p14="http://schemas.microsoft.com/office/powerpoint/2010/main" val="141841312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FB1CC3-6DA1-4854-8906-DD8894E2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658BE-E215-45BC-8B84-AD29D974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DA726D0-AF4C-4BEB-B63B-34CA06D2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364C860-4034-4B7C-B1F9-F570BF5D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CONCLUSAO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4B132-3D2F-4512-B0B5-F9B98F2B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Recomendacao: usar MCC/F1 como fitness principal do artigo.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7869F-8A32-4898-A3EB-08A933F0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F45D4-3E7B-4DB3-886F-FD28D6E5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BF1F6-3AE0-429B-85BE-930476E3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972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1DE1F-F711-4771-BC81-8237F496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0200"/>
            <a:ext cx="6819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MCC/F1 lidera no X_test: accuracy media 0.6230 vs 0.6198.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1395B-F118-4C5B-B8FD-27822586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95705-D8CB-4053-9161-80CECFD4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6819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MCC medio tambem favorece MCC/F1: 0.2469 vs 0.2390.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29403-ECD4-42D2-9242-704491BF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C78AA-0B33-46D8-A4B2-EFE6C771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6819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Accuracy-CV entra como experimento complementar de estabilidade temporal.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9A64F-B15F-486A-B24C-1CB7E869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C39A1-A0B5-4AC0-8C0E-B7708349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6819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 backtest oficial mostra desempenho economico positivo para ambos, sem diferenca diaria estatisticamente forte.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B2836-0DB7-4A62-A560-3EF5F639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A4AF7-B42E-4AD0-8AAA-1422BC61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MLP + GWO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EA121-A000-43EF-B2D3-9ED79D01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8000"/>
            <a:ext cx="1866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melhor combinacao media nas duas fitness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7A5A2-8909-452A-865B-8D92B10F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624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72987-E5A6-49B1-BA57-74094D95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52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Uso no artigo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FCB8A4-B8BE-45D2-91DE-EA60AFF5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387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MCC/F1 como fitness principal; Accuracy-CV como analise complementar.</a:t>
            </a:r>
          </a:p>
        </p:txBody>
      </p:sp>
    </p:spTree>
    <p:extLst>
      <p:ext uri="{BB962C8B-B14F-4D97-AF65-F5344CB8AC3E}">
        <p14:creationId xmlns:p14="http://schemas.microsoft.com/office/powerpoint/2010/main" val="80325335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79A83D-C77C-4C34-816B-DDEE7B16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EC547-8B41-44B6-A15A-71674461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0DAB62-D243-45B4-A00D-718B7E26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C8C31E-50F1-4287-B882-6E3F65B7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APENDICE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061B8-B72D-4521-A5F5-BD9433D1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Espaco de busca completo por modelo.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ABCF0-0D2B-4755-ACDA-B6FFD1EE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7991E-441F-413E-B22C-8E05083E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4987E-AE0B-4BCD-8911-0A5D06CB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B1BD0-1BDA-41DF-98CF-BBAE07EB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1371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10A41-A175-4761-BFEC-4EB08E67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81150"/>
            <a:ext cx="666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D8B44-F5A4-424E-926C-C025D4D6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66875"/>
            <a:ext cx="6515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Parametros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66DE9-5714-4FC9-8265-6826CC80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F8071-0269-4348-A672-B210D81A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371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MLP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6B370-FC10-47A1-9EEE-B45B5E6F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19350"/>
            <a:ext cx="666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459F8-1046-4382-A8C3-89589506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86025"/>
            <a:ext cx="6515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hidden_neurons: 5 - 500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learning_rate: 1e-08 - 0.01 (log10)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l2_alpha: 1e-08 - 0.01 (log10)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dropout_rate: 0.0 - 0.1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01850-E6D6-4CF4-AF3D-0EE7C040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33631-C704-4982-993E-3914CD60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371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SVM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CA7A95-8EE0-4B37-B750-DF8C9587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57550"/>
            <a:ext cx="666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65C2C-E134-40DA-A0C4-296586DD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24225"/>
            <a:ext cx="6515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C: 0.001 - 1.0e3 (log10)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gamma: 1e-05 - 1.0e1 (log10)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kernel: linear, rbf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A67AB-465F-43EA-9283-9D0C6785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394CB-33C2-4C98-A6FB-24BEF623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1371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F931E-D549-4EB6-B284-36596069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95750"/>
            <a:ext cx="666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782501-B1B9-4656-9EA4-DBC99E6B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62425"/>
            <a:ext cx="6515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n_estimators: 50 - 500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max_depth: 5 - 50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min_samples_split: 2 - 20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min_samples_leaf: 1 - 20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2E510C-D314-4B9E-ACE6-DCC49025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00F51B-F6E8-45F3-8FC4-447726D2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371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CNN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8B47F-57ED-4C3B-AA4B-521E1334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33950"/>
            <a:ext cx="666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B19BC6-6297-4BC4-BD9F-1E877C24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00625"/>
            <a:ext cx="6515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n_filters: 8 - 128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kernel_size: 2 - 5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dense_neurons: 16 - 256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learning_rate: 1e-08 - 0.01 (log10)</a:t>
            </a:r>
          </a:p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530173-2000-49A3-866B-ABD2E1F7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76400"/>
            <a:ext cx="2095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3C8987-6E0D-41B0-91DD-A40FB165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Nota de leitura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00681D-220F-4191-9A11-827A0116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1666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Esta tabela vem diretamente de config/search_spaces.yaml.</a:t>
            </a:r>
          </a:p>
        </p:txBody>
      </p:sp>
    </p:spTree>
    <p:extLst>
      <p:ext uri="{BB962C8B-B14F-4D97-AF65-F5344CB8AC3E}">
        <p14:creationId xmlns:p14="http://schemas.microsoft.com/office/powerpoint/2010/main" val="140904456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119C77-3F16-4E37-B2ED-3E709DF8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CEC84-4C5F-4A7E-A817-707434DA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AA3370A-20DE-41B8-8CE1-A1728D94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55020DF-C578-454E-B80A-9254863C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APENDICE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68A8A-0223-4DB3-86CA-959AA4BC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Sinais de validacao registrados para o melhor par MLP + GWO.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35A83-9687-4120-94E0-33E4495B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16E0C-EE0B-4970-A25A-661DB4A0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44AEE-E430-40AD-AC1F-2454A243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79951-F541-4592-A19E-C8145BBD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BD1C2-81E2-4AE1-8683-F1D53953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81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FE2B9-E064-4AD6-A796-677E32B4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668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Fitness 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28011-E980-4ED5-8B45-4FBE0C36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A3BFD-D8EB-4838-8412-EDFC9F53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668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 val.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9DFC0-26CF-4BEC-968F-109A259D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A71B3-820D-4201-ABC5-D9032FF5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668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MCC val.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3CD46-55C1-4032-9601-0D5BFA52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81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66CBF-A941-4C97-8743-B4937770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668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F1 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4D359-9CE1-4B72-8962-5EF98A35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45351-0D13-4F6E-87AC-A33F09B7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Accuracy-CV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3ABF9-BA9A-449C-83D3-C0F55A0A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62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27131-B92F-4ADE-AD44-BFCD8CD2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28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0.6618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4AE8F-41F6-440E-9171-280D95A9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62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A4E232-BD3D-4AC3-9435-4BDD8105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28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0.6653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BA15E-42FC-4A15-BDBB-9B03ABAF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62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6BD68A-1844-4640-B0A8-AB9DBC03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28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4EE2C0-FACC-4296-BA91-988B8FC5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610A4-DDB5-48BA-BDD3-05C566D3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28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3B8E4B-F5FB-4CCB-A881-BEF8520B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45E2D8-7134-4CCE-AE69-877010A2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MCC/F1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E7B166-459E-475F-8DCB-7792645B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43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EF2182-99B4-4DF2-BF37-BEC7EBF6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09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0.4285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46504A-CB08-43D5-A7E9-A5E1A3E5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C57FD6-E176-40EB-A0D7-7937E8CC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9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0.6381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59AF80-23B0-4DBA-8208-CFEDB965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9D37B4-1BDA-4A29-AA04-CB88EC72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9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0.2728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3AE8E1-8449-4D5C-86A8-5421FE29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46DCED-CFEA-4E47-970C-B669B091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0.6620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DB3C11-7B26-4BC8-B369-8759D3B0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76400"/>
            <a:ext cx="2095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38FB58-6792-4450-9C16-C82F0814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Nota de leitura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19C15D-7596-46EE-9495-36740392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1666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No Accuracy-CV, MCC/F1 de validacao nao e o objetivo registrado; por isso a avaliacao final usa metricas iguais no X_test.</a:t>
            </a:r>
          </a:p>
        </p:txBody>
      </p:sp>
    </p:spTree>
    <p:extLst>
      <p:ext uri="{BB962C8B-B14F-4D97-AF65-F5344CB8AC3E}">
        <p14:creationId xmlns:p14="http://schemas.microsoft.com/office/powerpoint/2010/main" val="143540718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E5318-863E-4C78-8C60-1B2AA743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40FE1-1271-455F-ACBB-11BA1E40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69678F4-DD87-4C75-9D85-60F23E26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70BEEF-CA2A-48E4-8634-EA150BC4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APENDICE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F8F0A-EEFE-4496-B164-B58E297B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Resumo economico oficial por fitness.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C65C9-C721-4AFB-A0AB-B2432015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NCA optimizer benchmark | resultados ao 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0A1BB-B805-4F08-B074-0843D46F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790F2-DA5E-46C2-8E28-B3D6C6F5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24503-4234-4ED5-86E5-38B72858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5E3C1-50F4-4851-BE79-0A1F427C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81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5F995-5C5B-4744-9E20-148EFC49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668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Lucro 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86B04-AB21-4448-BC00-81366A22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4004D-2FE6-425B-B903-18831FCA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668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90B06-BE1D-4499-9425-3B1C5E07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B2DDA-8DA9-4309-97F9-AB51B062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668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61248-D8B7-4E8F-8643-AD49C1D1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81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06209-296C-4662-87CF-CB6127BE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668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Max DD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D87BB-D0A3-466E-8364-3212048B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6BEF0-E2CE-4D53-BE0C-ED2B262A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Accuracy-CV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2F1D6-C604-485C-AD72-5AE87781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62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5E750-86DA-46EA-8379-C9AF6464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28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28.407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9EEA31-1170-4109-872B-546AD87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62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D4B65-4824-41BC-934B-D4CD26E7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28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1.521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FE9438-2D3B-4A0D-9941-FFE58159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62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B2878-C642-416B-9D0C-3210503D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28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13.50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47BB21-F4F2-4AA1-B620-9B333CA5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8937FF-19C3-486B-9FF2-C013F4B1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28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-2.060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F8C6BC-3D17-4950-8AC9-DCE813C3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A03043-AD91-4955-8570-86F5ACF9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Long-only baseline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476D15-A2D1-4EAA-8EBC-B2EAA1C0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43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EFB922-989F-49DB-A918-317CC048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09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-47.730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672718-9D41-485D-A074-5A748D3E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86BA63-F81B-45C1-BCB3-99A49295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9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0.496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5B4E19-0558-4838-8AFE-22A9C136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AD8EC0-CD91-4EBA-AB0F-00AEDA81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9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-6.46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EBA63C-EB3F-4337-8379-A0039CA7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6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E5CB89-CB26-436D-B43F-4BE82C7F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-47.740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E8348C-0C98-4A28-8EA1-7DC16834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8871EB-F890-461D-88AB-061A2A3B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MCC/F1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16E0BC-9EF2-40C3-97F2-2AE25E70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61A4FE-8549-4AFF-8ABC-67CD9A6E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90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28.277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B3526B-3F41-4EE0-8ED2-933F3217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E626BD-683C-4856-B635-7AAE8971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90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1.518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53B07A-BB37-4739-9C84-7627A054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5D86D7-E5BC-48CC-8E8B-3F5D90A0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90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13.52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CF291A-38A2-41CF-9968-A81A2E26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C8A304-9DC3-420E-A005-E2A67362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90825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-2.115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4637B2-7E23-41C9-A7F6-DE5EA4D7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76400"/>
            <a:ext cx="2095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AD0EF7-2419-4BD2-9B90-30DBD313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Nota de leitura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3A4BD3-A265-4FFB-A851-ABE386FD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1666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 baseline long-only foi incluido apenas como referencia do periodo de teste.</a:t>
            </a:r>
          </a:p>
        </p:txBody>
      </p:sp>
    </p:spTree>
    <p:extLst>
      <p:ext uri="{BB962C8B-B14F-4D97-AF65-F5344CB8AC3E}">
        <p14:creationId xmlns:p14="http://schemas.microsoft.com/office/powerpoint/2010/main" val="985066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2026-06-15T20:15:32.1820000Z</dcterms:created>
  <dcterms:modified xsi:type="dcterms:W3CDTF">2026-06-15T20:15:32.1820000Z</dcterms:modified>
</coreProperties>
</file>